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1" r:id="rId7"/>
    <p:sldId id="268" r:id="rId8"/>
    <p:sldId id="267" r:id="rId9"/>
    <p:sldId id="262" r:id="rId10"/>
    <p:sldId id="263" r:id="rId11"/>
    <p:sldId id="264" r:id="rId12"/>
    <p:sldId id="265" r:id="rId13"/>
    <p:sldId id="266"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3EC6E-D17B-4315-974F-C9F424B46C43}"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DF0C51-E1F6-4237-B88C-3881F1D30880}" type="slidenum">
              <a:rPr lang="en-IN" smtClean="0"/>
              <a:t>‹#›</a:t>
            </a:fld>
            <a:endParaRPr lang="en-IN"/>
          </a:p>
        </p:txBody>
      </p:sp>
    </p:spTree>
    <p:extLst>
      <p:ext uri="{BB962C8B-B14F-4D97-AF65-F5344CB8AC3E}">
        <p14:creationId xmlns:p14="http://schemas.microsoft.com/office/powerpoint/2010/main" val="375759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DF0C51-E1F6-4237-B88C-3881F1D30880}" type="slidenum">
              <a:rPr lang="en-IN" smtClean="0"/>
              <a:t>6</a:t>
            </a:fld>
            <a:endParaRPr lang="en-IN"/>
          </a:p>
        </p:txBody>
      </p:sp>
    </p:spTree>
    <p:extLst>
      <p:ext uri="{BB962C8B-B14F-4D97-AF65-F5344CB8AC3E}">
        <p14:creationId xmlns:p14="http://schemas.microsoft.com/office/powerpoint/2010/main" val="2047840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DF0C51-E1F6-4237-B88C-3881F1D30880}" type="slidenum">
              <a:rPr lang="en-IN" smtClean="0"/>
              <a:t>7</a:t>
            </a:fld>
            <a:endParaRPr lang="en-IN"/>
          </a:p>
        </p:txBody>
      </p:sp>
    </p:spTree>
    <p:extLst>
      <p:ext uri="{BB962C8B-B14F-4D97-AF65-F5344CB8AC3E}">
        <p14:creationId xmlns:p14="http://schemas.microsoft.com/office/powerpoint/2010/main" val="2383348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DF0C51-E1F6-4237-B88C-3881F1D30880}" type="slidenum">
              <a:rPr lang="en-IN" smtClean="0"/>
              <a:t>9</a:t>
            </a:fld>
            <a:endParaRPr lang="en-IN"/>
          </a:p>
        </p:txBody>
      </p:sp>
    </p:spTree>
    <p:extLst>
      <p:ext uri="{BB962C8B-B14F-4D97-AF65-F5344CB8AC3E}">
        <p14:creationId xmlns:p14="http://schemas.microsoft.com/office/powerpoint/2010/main" val="2138165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2649218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078645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2670754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576AD-1438-4CD4-805F-4353B583E83D}"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3666468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0576AD-1438-4CD4-805F-4353B583E83D}" type="datetimeFigureOut">
              <a:rPr lang="en-IN" smtClean="0"/>
              <a:t>16-02-2026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321252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0576AD-1438-4CD4-805F-4353B583E83D}" type="datetimeFigureOut">
              <a:rPr lang="en-IN" smtClean="0"/>
              <a:t>16-02-2026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363513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0576AD-1438-4CD4-805F-4353B583E83D}" type="datetimeFigureOut">
              <a:rPr lang="en-IN" smtClean="0"/>
              <a:t>16-02-2026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98843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0576AD-1438-4CD4-805F-4353B583E83D}"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118608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00576AD-1438-4CD4-805F-4353B583E83D}" type="datetimeFigureOut">
              <a:rPr lang="en-IN" smtClean="0"/>
              <a:t>16-02-2026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73131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0576AD-1438-4CD4-805F-4353B583E83D}"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59575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973116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360404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394753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52409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070541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1489081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0576AD-1438-4CD4-805F-4353B583E83D}"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E9B053-5F01-405E-A198-D0710DC18CCA}" type="slidenum">
              <a:rPr lang="en-IN" smtClean="0"/>
              <a:t>‹#›</a:t>
            </a:fld>
            <a:endParaRPr lang="en-IN"/>
          </a:p>
        </p:txBody>
      </p:sp>
    </p:spTree>
    <p:extLst>
      <p:ext uri="{BB962C8B-B14F-4D97-AF65-F5344CB8AC3E}">
        <p14:creationId xmlns:p14="http://schemas.microsoft.com/office/powerpoint/2010/main" val="3456634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00576AD-1438-4CD4-805F-4353B583E83D}" type="datetimeFigureOut">
              <a:rPr lang="en-IN" smtClean="0"/>
              <a:t>16-02-2026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CE9B053-5F01-405E-A198-D0710DC18CCA}" type="slidenum">
              <a:rPr lang="en-IN" smtClean="0"/>
              <a:t>‹#›</a:t>
            </a:fld>
            <a:endParaRPr lang="en-IN"/>
          </a:p>
        </p:txBody>
      </p:sp>
    </p:spTree>
    <p:extLst>
      <p:ext uri="{BB962C8B-B14F-4D97-AF65-F5344CB8AC3E}">
        <p14:creationId xmlns:p14="http://schemas.microsoft.com/office/powerpoint/2010/main" val="5326084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C55B9B6-3284-4A87-B88E-29DF8ECF8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6B177-DE0D-6957-DDEB-3FAF9938CC90}"/>
              </a:ext>
            </a:extLst>
          </p:cNvPr>
          <p:cNvSpPr>
            <a:spLocks noGrp="1"/>
          </p:cNvSpPr>
          <p:nvPr>
            <p:ph type="ctrTitle"/>
          </p:nvPr>
        </p:nvSpPr>
        <p:spPr>
          <a:xfrm>
            <a:off x="6735098" y="609600"/>
            <a:ext cx="4798142" cy="3642851"/>
          </a:xfrm>
        </p:spPr>
        <p:txBody>
          <a:bodyPr>
            <a:normAutofit/>
          </a:bodyPr>
          <a:lstStyle/>
          <a:p>
            <a:r>
              <a:rPr lang="en-IN" b="1">
                <a:gradFill flip="none" rotWithShape="1">
                  <a:gsLst>
                    <a:gs pos="0">
                      <a:sysClr val="window" lastClr="FFFFFF"/>
                    </a:gs>
                    <a:gs pos="100000">
                      <a:sysClr val="window" lastClr="FFFFFF">
                        <a:lumMod val="65000"/>
                      </a:sysClr>
                    </a:gs>
                  </a:gsLst>
                  <a:lin ang="5580000" scaled="0"/>
                  <a:tileRect/>
                </a:gradFill>
              </a:rPr>
              <a:t>Machine Learning</a:t>
            </a:r>
            <a:endParaRPr lang="en-IN">
              <a:gradFill flip="none" rotWithShape="1">
                <a:gsLst>
                  <a:gs pos="0">
                    <a:sysClr val="window" lastClr="FFFFFF"/>
                  </a:gs>
                  <a:gs pos="100000">
                    <a:sysClr val="window" lastClr="FFFFFF">
                      <a:lumMod val="65000"/>
                    </a:sysClr>
                  </a:gs>
                </a:gsLst>
                <a:lin ang="5580000" scaled="0"/>
                <a:tileRect/>
              </a:gradFill>
            </a:endParaRPr>
          </a:p>
        </p:txBody>
      </p:sp>
      <p:sp>
        <p:nvSpPr>
          <p:cNvPr id="3" name="Subtitle 2">
            <a:extLst>
              <a:ext uri="{FF2B5EF4-FFF2-40B4-BE49-F238E27FC236}">
                <a16:creationId xmlns:a16="http://schemas.microsoft.com/office/drawing/2014/main" id="{114F2165-20CA-487D-2377-2BAACCB3D238}"/>
              </a:ext>
            </a:extLst>
          </p:cNvPr>
          <p:cNvSpPr>
            <a:spLocks noGrp="1"/>
          </p:cNvSpPr>
          <p:nvPr>
            <p:ph type="subTitle" idx="1"/>
          </p:nvPr>
        </p:nvSpPr>
        <p:spPr>
          <a:xfrm>
            <a:off x="6735098" y="4365523"/>
            <a:ext cx="4798140" cy="1793053"/>
          </a:xfrm>
        </p:spPr>
        <p:txBody>
          <a:bodyPr>
            <a:normAutofit/>
          </a:bodyPr>
          <a:lstStyle/>
          <a:p>
            <a:r>
              <a:rPr lang="en-US">
                <a:gradFill flip="none" rotWithShape="1">
                  <a:gsLst>
                    <a:gs pos="0">
                      <a:sysClr val="window" lastClr="FFFFFF"/>
                    </a:gs>
                    <a:gs pos="100000">
                      <a:sysClr val="window" lastClr="FFFFFF">
                        <a:lumMod val="75000"/>
                      </a:sysClr>
                    </a:gs>
                  </a:gsLst>
                  <a:lin ang="5400000" scaled="0"/>
                  <a:tileRect/>
                </a:gradFill>
              </a:rPr>
              <a:t>An Introduction to the World of Intelligent Systems</a:t>
            </a:r>
          </a:p>
          <a:p>
            <a:endParaRPr lang="en-IN">
              <a:gradFill flip="none" rotWithShape="1">
                <a:gsLst>
                  <a:gs pos="0">
                    <a:sysClr val="window" lastClr="FFFFFF"/>
                  </a:gs>
                  <a:gs pos="100000">
                    <a:sysClr val="window" lastClr="FFFFFF">
                      <a:lumMod val="75000"/>
                    </a:sysClr>
                  </a:gs>
                </a:gsLst>
                <a:lin ang="5400000" scaled="0"/>
                <a:tileRect/>
              </a:gradFill>
            </a:endParaRPr>
          </a:p>
        </p:txBody>
      </p:sp>
      <p:sp>
        <p:nvSpPr>
          <p:cNvPr id="19" name="Rounded Rectangle 7">
            <a:extLst>
              <a:ext uri="{FF2B5EF4-FFF2-40B4-BE49-F238E27FC236}">
                <a16:creationId xmlns:a16="http://schemas.microsoft.com/office/drawing/2014/main" id="{9B5F5ECB-A05F-4FAD-9AAC-BC767A81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290" y="620720"/>
            <a:ext cx="5457375" cy="5597200"/>
          </a:xfrm>
          <a:prstGeom prst="roundRect">
            <a:avLst>
              <a:gd name="adj" fmla="val 3812"/>
            </a:avLst>
          </a:prstGeom>
          <a:solidFill>
            <a:schemeClr val="bg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4" name="Graphic 13" descr="Head with Gears">
            <a:extLst>
              <a:ext uri="{FF2B5EF4-FFF2-40B4-BE49-F238E27FC236}">
                <a16:creationId xmlns:a16="http://schemas.microsoft.com/office/drawing/2014/main" id="{AB322E79-4BC6-283A-B85E-A364CE0601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2167" y="1174509"/>
            <a:ext cx="4489621" cy="4489621"/>
          </a:xfrm>
          <a:prstGeom prst="rect">
            <a:avLst/>
          </a:prstGeom>
        </p:spPr>
      </p:pic>
      <p:pic>
        <p:nvPicPr>
          <p:cNvPr id="11" name="Picture 10">
            <a:extLst>
              <a:ext uri="{FF2B5EF4-FFF2-40B4-BE49-F238E27FC236}">
                <a16:creationId xmlns:a16="http://schemas.microsoft.com/office/drawing/2014/main" id="{24FBEE0D-BC7D-3CAA-D6F9-6EEE87F4D9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0063" y="307680"/>
            <a:ext cx="2002557" cy="866829"/>
          </a:xfrm>
          <a:prstGeom prst="rect">
            <a:avLst/>
          </a:prstGeom>
        </p:spPr>
      </p:pic>
    </p:spTree>
    <p:extLst>
      <p:ext uri="{BB962C8B-B14F-4D97-AF65-F5344CB8AC3E}">
        <p14:creationId xmlns:p14="http://schemas.microsoft.com/office/powerpoint/2010/main" val="127770566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EF8982E-02F0-4D24-85CB-98DEBCC32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49D59-B0CA-DC97-390C-AD20E3C2C4B4}"/>
              </a:ext>
            </a:extLst>
          </p:cNvPr>
          <p:cNvSpPr>
            <a:spLocks noGrp="1"/>
          </p:cNvSpPr>
          <p:nvPr>
            <p:ph type="title"/>
          </p:nvPr>
        </p:nvSpPr>
        <p:spPr>
          <a:xfrm>
            <a:off x="643192" y="609600"/>
            <a:ext cx="3643674" cy="1905000"/>
          </a:xfrm>
        </p:spPr>
        <p:txBody>
          <a:bodyPr>
            <a:normAutofit/>
          </a:bodyPr>
          <a:lstStyle/>
          <a:p>
            <a:pPr algn="ctr"/>
            <a:r>
              <a:rPr lang="en-IN" sz="2800" b="1" dirty="0">
                <a:gradFill flip="none" rotWithShape="1">
                  <a:gsLst>
                    <a:gs pos="0">
                      <a:sysClr val="window" lastClr="FFFFFF"/>
                    </a:gs>
                    <a:gs pos="100000">
                      <a:sysClr val="window" lastClr="FFFFFF">
                        <a:lumMod val="65000"/>
                      </a:sysClr>
                    </a:gs>
                  </a:gsLst>
                  <a:lin ang="5580000" scaled="0"/>
                  <a:tileRect/>
                </a:gradFill>
              </a:rPr>
              <a:t>Powering Our Modern World</a:t>
            </a:r>
            <a:endParaRPr lang="en-IN" sz="2800" dirty="0">
              <a:gradFill flip="none" rotWithShape="1">
                <a:gsLst>
                  <a:gs pos="0">
                    <a:sysClr val="window" lastClr="FFFFFF"/>
                  </a:gs>
                  <a:gs pos="100000">
                    <a:sysClr val="window" lastClr="FFFFFF">
                      <a:lumMod val="65000"/>
                    </a:sysClr>
                  </a:gs>
                </a:gsLst>
                <a:lin ang="5580000" scaled="0"/>
                <a:tileRect/>
              </a:gradFill>
            </a:endParaRPr>
          </a:p>
        </p:txBody>
      </p:sp>
      <p:sp>
        <p:nvSpPr>
          <p:cNvPr id="3" name="Content Placeholder 2">
            <a:extLst>
              <a:ext uri="{FF2B5EF4-FFF2-40B4-BE49-F238E27FC236}">
                <a16:creationId xmlns:a16="http://schemas.microsoft.com/office/drawing/2014/main" id="{2529A571-EBF1-17C8-7AD6-25A7D33C295E}"/>
              </a:ext>
            </a:extLst>
          </p:cNvPr>
          <p:cNvSpPr>
            <a:spLocks noGrp="1"/>
          </p:cNvSpPr>
          <p:nvPr>
            <p:ph idx="1"/>
          </p:nvPr>
        </p:nvSpPr>
        <p:spPr>
          <a:xfrm>
            <a:off x="643192" y="2666999"/>
            <a:ext cx="3643674" cy="3216276"/>
          </a:xfrm>
        </p:spPr>
        <p:txBody>
          <a:bodyPr anchor="t">
            <a:normAutofit/>
          </a:bodyPr>
          <a:lstStyle/>
          <a:p>
            <a:r>
              <a:rPr lang="en-US" sz="1800" dirty="0">
                <a:gradFill flip="none" rotWithShape="1">
                  <a:gsLst>
                    <a:gs pos="0">
                      <a:sysClr val="window" lastClr="FFFFFF"/>
                    </a:gs>
                    <a:gs pos="100000">
                      <a:sysClr val="window" lastClr="FFFFFF">
                        <a:lumMod val="75000"/>
                      </a:sysClr>
                    </a:gs>
                  </a:gsLst>
                  <a:lin ang="5580000" scaled="0"/>
                  <a:tileRect/>
                </a:gradFill>
              </a:rPr>
              <a:t>Machine learning (ML) powers some of the most important technologies we use, from translation apps to autonomous vehicles. ML can predict the weather, estimate travel times, recommend songs, auto-complete sentences, summarize articles, and generate never-seen-before images.</a:t>
            </a:r>
          </a:p>
        </p:txBody>
      </p:sp>
      <p:sp>
        <p:nvSpPr>
          <p:cNvPr id="21" name="Rounded Rectangle 7">
            <a:extLst>
              <a:ext uri="{FF2B5EF4-FFF2-40B4-BE49-F238E27FC236}">
                <a16:creationId xmlns:a16="http://schemas.microsoft.com/office/drawing/2014/main" id="{2CB72970-2D5B-4516-9F76-B1220A77B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0994" y="620720"/>
            <a:ext cx="6929447" cy="5272133"/>
          </a:xfrm>
          <a:prstGeom prst="roundRect">
            <a:avLst>
              <a:gd name="adj" fmla="val 3812"/>
            </a:avLst>
          </a:prstGeom>
          <a:solidFill>
            <a:schemeClr val="bg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Picture 6">
            <a:extLst>
              <a:ext uri="{FF2B5EF4-FFF2-40B4-BE49-F238E27FC236}">
                <a16:creationId xmlns:a16="http://schemas.microsoft.com/office/drawing/2014/main" id="{05C3F415-31F3-36A0-D37D-F808CC765F39}"/>
              </a:ext>
            </a:extLst>
          </p:cNvPr>
          <p:cNvPicPr>
            <a:picLocks noChangeAspect="1"/>
          </p:cNvPicPr>
          <p:nvPr/>
        </p:nvPicPr>
        <p:blipFill>
          <a:blip r:embed="rId2"/>
          <a:stretch>
            <a:fillRect/>
          </a:stretch>
        </p:blipFill>
        <p:spPr>
          <a:xfrm>
            <a:off x="5954197" y="1115267"/>
            <a:ext cx="4283039" cy="4283039"/>
          </a:xfrm>
          <a:prstGeom prst="rect">
            <a:avLst/>
          </a:prstGeom>
        </p:spPr>
      </p:pic>
      <p:pic>
        <p:nvPicPr>
          <p:cNvPr id="10" name="Picture 9">
            <a:extLst>
              <a:ext uri="{FF2B5EF4-FFF2-40B4-BE49-F238E27FC236}">
                <a16:creationId xmlns:a16="http://schemas.microsoft.com/office/drawing/2014/main" id="{8640469D-A698-E1D9-DF9F-30C01B876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735" y="187305"/>
            <a:ext cx="2002557" cy="866829"/>
          </a:xfrm>
          <a:prstGeom prst="rect">
            <a:avLst/>
          </a:prstGeom>
        </p:spPr>
      </p:pic>
    </p:spTree>
    <p:extLst>
      <p:ext uri="{BB962C8B-B14F-4D97-AF65-F5344CB8AC3E}">
        <p14:creationId xmlns:p14="http://schemas.microsoft.com/office/powerpoint/2010/main" val="148514471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0EF8982E-02F0-4D24-85CB-98DEBCC32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743086-00E9-B614-B9E6-59301073F8BF}"/>
              </a:ext>
            </a:extLst>
          </p:cNvPr>
          <p:cNvSpPr>
            <a:spLocks noGrp="1"/>
          </p:cNvSpPr>
          <p:nvPr>
            <p:ph type="title"/>
          </p:nvPr>
        </p:nvSpPr>
        <p:spPr>
          <a:xfrm>
            <a:off x="643192" y="1229309"/>
            <a:ext cx="3643674" cy="1239982"/>
          </a:xfrm>
        </p:spPr>
        <p:txBody>
          <a:bodyPr>
            <a:normAutofit fontScale="90000"/>
          </a:bodyPr>
          <a:lstStyle/>
          <a:p>
            <a:pPr algn="ctr"/>
            <a:r>
              <a:rPr lang="en-IN" sz="2800" b="1" dirty="0">
                <a:gradFill flip="none" rotWithShape="1">
                  <a:gsLst>
                    <a:gs pos="0">
                      <a:sysClr val="window" lastClr="FFFFFF"/>
                    </a:gs>
                    <a:gs pos="100000">
                      <a:sysClr val="window" lastClr="FFFFFF">
                        <a:lumMod val="65000"/>
                      </a:sysClr>
                    </a:gs>
                  </a:gsLst>
                  <a:lin ang="5580000" scaled="0"/>
                  <a:tileRect/>
                </a:gradFill>
              </a:rPr>
              <a:t>What is Machine Learning?</a:t>
            </a:r>
            <a:br>
              <a:rPr lang="en-IN" sz="2800" b="1" dirty="0">
                <a:gradFill flip="none" rotWithShape="1">
                  <a:gsLst>
                    <a:gs pos="0">
                      <a:sysClr val="window" lastClr="FFFFFF"/>
                    </a:gs>
                    <a:gs pos="100000">
                      <a:sysClr val="window" lastClr="FFFFFF">
                        <a:lumMod val="65000"/>
                      </a:sysClr>
                    </a:gs>
                  </a:gsLst>
                  <a:lin ang="5580000" scaled="0"/>
                  <a:tileRect/>
                </a:gradFill>
              </a:rPr>
            </a:br>
            <a:endParaRPr lang="en-IN" sz="2800" dirty="0">
              <a:gradFill flip="none" rotWithShape="1">
                <a:gsLst>
                  <a:gs pos="0">
                    <a:sysClr val="window" lastClr="FFFFFF"/>
                  </a:gs>
                  <a:gs pos="100000">
                    <a:sysClr val="window" lastClr="FFFFFF">
                      <a:lumMod val="65000"/>
                    </a:sysClr>
                  </a:gs>
                </a:gsLst>
                <a:lin ang="5580000" scaled="0"/>
                <a:tileRect/>
              </a:gradFill>
            </a:endParaRPr>
          </a:p>
        </p:txBody>
      </p:sp>
      <p:sp>
        <p:nvSpPr>
          <p:cNvPr id="3" name="Content Placeholder 2">
            <a:extLst>
              <a:ext uri="{FF2B5EF4-FFF2-40B4-BE49-F238E27FC236}">
                <a16:creationId xmlns:a16="http://schemas.microsoft.com/office/drawing/2014/main" id="{C5A50F1A-2B4D-4E05-8956-45579605C49D}"/>
              </a:ext>
            </a:extLst>
          </p:cNvPr>
          <p:cNvSpPr>
            <a:spLocks noGrp="1"/>
          </p:cNvSpPr>
          <p:nvPr>
            <p:ph idx="1"/>
          </p:nvPr>
        </p:nvSpPr>
        <p:spPr>
          <a:xfrm>
            <a:off x="643192" y="2666999"/>
            <a:ext cx="3643674" cy="3216276"/>
          </a:xfrm>
        </p:spPr>
        <p:txBody>
          <a:bodyPr anchor="t">
            <a:normAutofit/>
          </a:bodyPr>
          <a:lstStyle/>
          <a:p>
            <a:r>
              <a:rPr lang="en-US" sz="1800">
                <a:gradFill flip="none" rotWithShape="1">
                  <a:gsLst>
                    <a:gs pos="0">
                      <a:sysClr val="window" lastClr="FFFFFF"/>
                    </a:gs>
                    <a:gs pos="100000">
                      <a:sysClr val="window" lastClr="FFFFFF">
                        <a:lumMod val="75000"/>
                      </a:sysClr>
                    </a:gs>
                  </a:gsLst>
                  <a:lin ang="5580000" scaled="0"/>
                  <a:tileRect/>
                </a:gradFill>
              </a:rPr>
              <a:t>In basic terms, ML is the process of training a piece of software, called a model, to make useful predictions or generate content (like text, images, audio, or video) from data.</a:t>
            </a:r>
          </a:p>
          <a:p>
            <a:endParaRPr lang="en-IN" sz="1800">
              <a:gradFill flip="none" rotWithShape="1">
                <a:gsLst>
                  <a:gs pos="0">
                    <a:sysClr val="window" lastClr="FFFFFF"/>
                  </a:gs>
                  <a:gs pos="100000">
                    <a:sysClr val="window" lastClr="FFFFFF">
                      <a:lumMod val="75000"/>
                    </a:sysClr>
                  </a:gs>
                </a:gsLst>
                <a:lin ang="5580000" scaled="0"/>
                <a:tileRect/>
              </a:gradFill>
            </a:endParaRPr>
          </a:p>
        </p:txBody>
      </p:sp>
      <p:sp>
        <p:nvSpPr>
          <p:cNvPr id="1033" name="Rounded Rectangle 7">
            <a:extLst>
              <a:ext uri="{FF2B5EF4-FFF2-40B4-BE49-F238E27FC236}">
                <a16:creationId xmlns:a16="http://schemas.microsoft.com/office/drawing/2014/main" id="{2CB72970-2D5B-4516-9F76-B1220A77B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0994" y="620720"/>
            <a:ext cx="6929447" cy="5272133"/>
          </a:xfrm>
          <a:prstGeom prst="roundRect">
            <a:avLst>
              <a:gd name="adj" fmla="val 3812"/>
            </a:avLst>
          </a:prstGeom>
          <a:solidFill>
            <a:schemeClr val="bg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6" name="Picture 2">
            <a:extLst>
              <a:ext uri="{FF2B5EF4-FFF2-40B4-BE49-F238E27FC236}">
                <a16:creationId xmlns:a16="http://schemas.microsoft.com/office/drawing/2014/main" id="{48986879-7F54-C204-8224-55A568B1AC1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3274" y="965147"/>
            <a:ext cx="5725390" cy="46563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8DE4DF1-725F-1100-CCBC-C2B5F5DB35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415" y="107896"/>
            <a:ext cx="2002557" cy="866829"/>
          </a:xfrm>
          <a:prstGeom prst="rect">
            <a:avLst/>
          </a:prstGeom>
        </p:spPr>
      </p:pic>
    </p:spTree>
    <p:extLst>
      <p:ext uri="{BB962C8B-B14F-4D97-AF65-F5344CB8AC3E}">
        <p14:creationId xmlns:p14="http://schemas.microsoft.com/office/powerpoint/2010/main" val="145639227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65F32515-9322-44A5-8C72-4C7BFB461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A617F13B-5021-454F-90E5-3AB2383BF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Understanding Machine Learning through Memes | by Harsh Aryan | Nybles |  Medium">
            <a:extLst>
              <a:ext uri="{FF2B5EF4-FFF2-40B4-BE49-F238E27FC236}">
                <a16:creationId xmlns:a16="http://schemas.microsoft.com/office/drawing/2014/main" id="{DB5D1311-33FC-C406-60E5-AD0998358C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29528" y="643467"/>
            <a:ext cx="8132943"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35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6" name="Rectangle 3085">
            <a:extLst>
              <a:ext uri="{FF2B5EF4-FFF2-40B4-BE49-F238E27FC236}">
                <a16:creationId xmlns:a16="http://schemas.microsoft.com/office/drawing/2014/main" id="{0EF8982E-02F0-4D24-85CB-98DEBCC32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7BD2AF-C8C2-211C-1D58-112018B0C7A2}"/>
              </a:ext>
            </a:extLst>
          </p:cNvPr>
          <p:cNvSpPr>
            <a:spLocks noGrp="1"/>
          </p:cNvSpPr>
          <p:nvPr>
            <p:ph type="title"/>
          </p:nvPr>
        </p:nvSpPr>
        <p:spPr>
          <a:xfrm>
            <a:off x="643192" y="1201882"/>
            <a:ext cx="3643674" cy="1385455"/>
          </a:xfrm>
        </p:spPr>
        <p:txBody>
          <a:bodyPr>
            <a:normAutofit fontScale="90000"/>
          </a:bodyPr>
          <a:lstStyle/>
          <a:p>
            <a:pPr algn="ctr"/>
            <a:r>
              <a:rPr lang="en-IN" sz="2800" b="1" dirty="0">
                <a:gradFill flip="none" rotWithShape="1">
                  <a:gsLst>
                    <a:gs pos="0">
                      <a:sysClr val="window" lastClr="FFFFFF"/>
                    </a:gs>
                    <a:gs pos="100000">
                      <a:sysClr val="window" lastClr="FFFFFF">
                        <a:lumMod val="65000"/>
                      </a:sysClr>
                    </a:gs>
                  </a:gsLst>
                  <a:lin ang="5580000" scaled="0"/>
                  <a:tileRect/>
                </a:gradFill>
              </a:rPr>
              <a:t>The Rainfall Prediction Challenge</a:t>
            </a:r>
            <a:br>
              <a:rPr lang="en-IN" sz="2800" b="1" dirty="0">
                <a:gradFill flip="none" rotWithShape="1">
                  <a:gsLst>
                    <a:gs pos="0">
                      <a:sysClr val="window" lastClr="FFFFFF"/>
                    </a:gs>
                    <a:gs pos="100000">
                      <a:sysClr val="window" lastClr="FFFFFF">
                        <a:lumMod val="65000"/>
                      </a:sysClr>
                    </a:gs>
                  </a:gsLst>
                  <a:lin ang="5580000" scaled="0"/>
                  <a:tileRect/>
                </a:gradFill>
              </a:rPr>
            </a:br>
            <a:endParaRPr lang="en-IN" sz="2800" dirty="0">
              <a:gradFill flip="none" rotWithShape="1">
                <a:gsLst>
                  <a:gs pos="0">
                    <a:sysClr val="window" lastClr="FFFFFF"/>
                  </a:gs>
                  <a:gs pos="100000">
                    <a:sysClr val="window" lastClr="FFFFFF">
                      <a:lumMod val="65000"/>
                    </a:sysClr>
                  </a:gs>
                </a:gsLst>
                <a:lin ang="5580000" scaled="0"/>
                <a:tileRect/>
              </a:gradFill>
            </a:endParaRPr>
          </a:p>
        </p:txBody>
      </p:sp>
      <p:sp>
        <p:nvSpPr>
          <p:cNvPr id="3" name="Content Placeholder 2">
            <a:extLst>
              <a:ext uri="{FF2B5EF4-FFF2-40B4-BE49-F238E27FC236}">
                <a16:creationId xmlns:a16="http://schemas.microsoft.com/office/drawing/2014/main" id="{6E45AD8F-FB0E-2FB0-BC91-23E16DEA5D7C}"/>
              </a:ext>
            </a:extLst>
          </p:cNvPr>
          <p:cNvSpPr>
            <a:spLocks noGrp="1"/>
          </p:cNvSpPr>
          <p:nvPr>
            <p:ph idx="1"/>
          </p:nvPr>
        </p:nvSpPr>
        <p:spPr>
          <a:xfrm>
            <a:off x="643192" y="2666999"/>
            <a:ext cx="3643674" cy="3216276"/>
          </a:xfrm>
        </p:spPr>
        <p:txBody>
          <a:bodyPr anchor="t">
            <a:normAutofit/>
          </a:bodyPr>
          <a:lstStyle/>
          <a:p>
            <a:pPr>
              <a:lnSpc>
                <a:spcPct val="90000"/>
              </a:lnSpc>
            </a:pPr>
            <a:r>
              <a:rPr lang="en-US" sz="1800">
                <a:gradFill flip="none" rotWithShape="1">
                  <a:gsLst>
                    <a:gs pos="0">
                      <a:sysClr val="window" lastClr="FFFFFF"/>
                    </a:gs>
                    <a:gs pos="100000">
                      <a:sysClr val="window" lastClr="FFFFFF">
                        <a:lumMod val="75000"/>
                      </a:sysClr>
                    </a:gs>
                  </a:gsLst>
                  <a:lin ang="5580000" scaled="0"/>
                  <a:tileRect/>
                </a:gradFill>
              </a:rPr>
              <a:t>For example, suppose we wanted to create an app to predict rainfall. We could use either a traditional approach or an ML approach. Using a traditional approach, we'd create a physics-based representation of the Earth's atmosphere and surface, computing massive amounts of fluid dynamics equations. This is incredibly difficult.</a:t>
            </a:r>
          </a:p>
          <a:p>
            <a:pPr>
              <a:lnSpc>
                <a:spcPct val="90000"/>
              </a:lnSpc>
            </a:pPr>
            <a:endParaRPr lang="en-IN" sz="1800">
              <a:gradFill flip="none" rotWithShape="1">
                <a:gsLst>
                  <a:gs pos="0">
                    <a:sysClr val="window" lastClr="FFFFFF"/>
                  </a:gs>
                  <a:gs pos="100000">
                    <a:sysClr val="window" lastClr="FFFFFF">
                      <a:lumMod val="75000"/>
                    </a:sysClr>
                  </a:gs>
                </a:gsLst>
                <a:lin ang="5580000" scaled="0"/>
                <a:tileRect/>
              </a:gradFill>
            </a:endParaRPr>
          </a:p>
        </p:txBody>
      </p:sp>
      <p:sp>
        <p:nvSpPr>
          <p:cNvPr id="3088" name="Rounded Rectangle 7">
            <a:extLst>
              <a:ext uri="{FF2B5EF4-FFF2-40B4-BE49-F238E27FC236}">
                <a16:creationId xmlns:a16="http://schemas.microsoft.com/office/drawing/2014/main" id="{2CB72970-2D5B-4516-9F76-B1220A77B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0994" y="620720"/>
            <a:ext cx="6929447" cy="5272133"/>
          </a:xfrm>
          <a:prstGeom prst="roundRect">
            <a:avLst>
              <a:gd name="adj" fmla="val 3812"/>
            </a:avLst>
          </a:prstGeom>
          <a:solidFill>
            <a:schemeClr val="bg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074" name="Picture 2">
            <a:extLst>
              <a:ext uri="{FF2B5EF4-FFF2-40B4-BE49-F238E27FC236}">
                <a16:creationId xmlns:a16="http://schemas.microsoft.com/office/drawing/2014/main" id="{58E35932-6A92-C3DB-0575-7B578EA94F1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28626" y="1587798"/>
            <a:ext cx="5934182" cy="33379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0F44BD3-7C75-C821-56A8-7BFFF0FAA8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300" y="187305"/>
            <a:ext cx="2002557" cy="866829"/>
          </a:xfrm>
          <a:prstGeom prst="rect">
            <a:avLst/>
          </a:prstGeom>
        </p:spPr>
      </p:pic>
    </p:spTree>
    <p:extLst>
      <p:ext uri="{BB962C8B-B14F-4D97-AF65-F5344CB8AC3E}">
        <p14:creationId xmlns:p14="http://schemas.microsoft.com/office/powerpoint/2010/main" val="383121701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63724-FD7C-F32C-3A29-597A77669F91}"/>
              </a:ext>
            </a:extLst>
          </p:cNvPr>
          <p:cNvSpPr>
            <a:spLocks noGrp="1"/>
          </p:cNvSpPr>
          <p:nvPr>
            <p:ph type="title"/>
          </p:nvPr>
        </p:nvSpPr>
        <p:spPr>
          <a:xfrm>
            <a:off x="974179" y="714375"/>
            <a:ext cx="3332955" cy="5076826"/>
          </a:xfrm>
        </p:spPr>
        <p:txBody>
          <a:bodyPr anchor="ctr">
            <a:normAutofit/>
          </a:bodyPr>
          <a:lstStyle/>
          <a:p>
            <a:r>
              <a:rPr lang="en-IN" sz="4000" b="1"/>
              <a:t>Categories of Machine Learning</a:t>
            </a:r>
            <a:endParaRPr lang="en-IN" sz="4000"/>
          </a:p>
        </p:txBody>
      </p:sp>
      <p:sp>
        <p:nvSpPr>
          <p:cNvPr id="8" name="Rectangle 7">
            <a:extLst>
              <a:ext uri="{FF2B5EF4-FFF2-40B4-BE49-F238E27FC236}">
                <a16:creationId xmlns:a16="http://schemas.microsoft.com/office/drawing/2014/main" id="{375136A9-49F9-4DA0-A741-F065B0FA0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3356" y="0"/>
            <a:ext cx="7558643"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912F6C7-0423-4B6F-AECE-710C84891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46539" y="3195797"/>
            <a:ext cx="6858000" cy="466406"/>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2" name="Straight Connector 11">
            <a:extLst>
              <a:ext uri="{FF2B5EF4-FFF2-40B4-BE49-F238E27FC236}">
                <a16:creationId xmlns:a16="http://schemas.microsoft.com/office/drawing/2014/main" id="{A7208205-03EE-4EC8-9C34-59270C1880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2336"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9" name="Content Placeholder 2">
            <a:extLst>
              <a:ext uri="{FF2B5EF4-FFF2-40B4-BE49-F238E27FC236}">
                <a16:creationId xmlns:a16="http://schemas.microsoft.com/office/drawing/2014/main" id="{23883D5E-3F9C-594F-4525-5F679F314326}"/>
              </a:ext>
            </a:extLst>
          </p:cNvPr>
          <p:cNvSpPr>
            <a:spLocks noGrp="1"/>
          </p:cNvSpPr>
          <p:nvPr>
            <p:ph idx="1"/>
          </p:nvPr>
        </p:nvSpPr>
        <p:spPr>
          <a:xfrm>
            <a:off x="4973046" y="714375"/>
            <a:ext cx="6253751" cy="5076825"/>
          </a:xfrm>
        </p:spPr>
        <p:txBody>
          <a:bodyPr>
            <a:normAutofit/>
          </a:bodyPr>
          <a:lstStyle/>
          <a:p>
            <a:pPr marL="0" indent="0">
              <a:buNone/>
            </a:pPr>
            <a:r>
              <a:rPr lang="en-US">
                <a:solidFill>
                  <a:schemeClr val="tx1"/>
                </a:solidFill>
              </a:rPr>
              <a:t>ML systems fall into one or more of the following categories based on how they learn to make predictions or generate content:</a:t>
            </a:r>
            <a:endParaRPr lang="en-US" b="1">
              <a:solidFill>
                <a:schemeClr val="tx1"/>
              </a:solidFill>
            </a:endParaRPr>
          </a:p>
          <a:p>
            <a:r>
              <a:rPr lang="en-US" b="1">
                <a:solidFill>
                  <a:schemeClr val="tx1"/>
                </a:solidFill>
              </a:rPr>
              <a:t>Supervised learning</a:t>
            </a:r>
          </a:p>
          <a:p>
            <a:r>
              <a:rPr lang="en-US" b="1">
                <a:solidFill>
                  <a:schemeClr val="tx1"/>
                </a:solidFill>
              </a:rPr>
              <a:t>Unsupervised learning</a:t>
            </a:r>
          </a:p>
          <a:p>
            <a:r>
              <a:rPr lang="en-US" b="1">
                <a:solidFill>
                  <a:schemeClr val="tx1"/>
                </a:solidFill>
              </a:rPr>
              <a:t>Reinforcement learning</a:t>
            </a:r>
          </a:p>
          <a:p>
            <a:r>
              <a:rPr lang="en-US" b="1">
                <a:solidFill>
                  <a:schemeClr val="tx1"/>
                </a:solidFill>
              </a:rPr>
              <a:t>Generative AI</a:t>
            </a:r>
          </a:p>
          <a:p>
            <a:endParaRPr lang="en-IN">
              <a:solidFill>
                <a:schemeClr val="tx1"/>
              </a:solidFill>
            </a:endParaRPr>
          </a:p>
        </p:txBody>
      </p:sp>
      <p:pic>
        <p:nvPicPr>
          <p:cNvPr id="4" name="Picture 3">
            <a:extLst>
              <a:ext uri="{FF2B5EF4-FFF2-40B4-BE49-F238E27FC236}">
                <a16:creationId xmlns:a16="http://schemas.microsoft.com/office/drawing/2014/main" id="{46163E58-ACED-0651-17E5-CBCE238AF1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0063" y="307680"/>
            <a:ext cx="2002557" cy="866829"/>
          </a:xfrm>
          <a:prstGeom prst="rect">
            <a:avLst/>
          </a:prstGeom>
        </p:spPr>
      </p:pic>
    </p:spTree>
    <p:extLst>
      <p:ext uri="{BB962C8B-B14F-4D97-AF65-F5344CB8AC3E}">
        <p14:creationId xmlns:p14="http://schemas.microsoft.com/office/powerpoint/2010/main" val="29770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9218" name="Picture 2" descr="I came across an interesting MEME on Machine Learning types Let us  understand that 𝘛𝘩𝘦𝘺 𝘢𝘳𝘦 𝘵𝘩𝘳𝘦𝘦 𝘥𝘪𝘧𝘧𝘦𝘳𝘦𝘯𝘵  𝘱𝘦𝘳𝘴𝘰𝘯𝘢𝘭𝘪𝘵𝘪𝘦𝘴 First, introduce himself: &quot;… | Dr. Princy  Randhawa">
            <a:extLst>
              <a:ext uri="{FF2B5EF4-FFF2-40B4-BE49-F238E27FC236}">
                <a16:creationId xmlns:a16="http://schemas.microsoft.com/office/drawing/2014/main" id="{C3B9576B-3928-17A4-F233-B4753709DD1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t="23862" b="19888"/>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9947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65F32515-9322-44A5-8C72-4C7BFB461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A617F13B-5021-454F-90E5-3AB2383BF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Understanding Machine Learning through Memes | by Harsh Aryan | Nybles |  Medium">
            <a:extLst>
              <a:ext uri="{FF2B5EF4-FFF2-40B4-BE49-F238E27FC236}">
                <a16:creationId xmlns:a16="http://schemas.microsoft.com/office/drawing/2014/main" id="{5B9D2C87-4FBA-709B-7337-D5D7A7F9E2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716365"/>
            <a:ext cx="10905066" cy="5425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9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96786-2F80-0CD8-76B0-8B0A9B7D33D3}"/>
              </a:ext>
            </a:extLst>
          </p:cNvPr>
          <p:cNvSpPr>
            <a:spLocks noGrp="1"/>
          </p:cNvSpPr>
          <p:nvPr>
            <p:ph type="title"/>
          </p:nvPr>
        </p:nvSpPr>
        <p:spPr>
          <a:xfrm>
            <a:off x="8893574" y="554181"/>
            <a:ext cx="3643674" cy="658091"/>
          </a:xfrm>
        </p:spPr>
        <p:txBody>
          <a:bodyPr>
            <a:normAutofit fontScale="90000"/>
          </a:bodyPr>
          <a:lstStyle/>
          <a:p>
            <a:br>
              <a:rPr lang="en-IN" sz="2800" b="1" dirty="0"/>
            </a:br>
            <a:endParaRPr lang="en-IN" sz="2800" dirty="0"/>
          </a:p>
        </p:txBody>
      </p:sp>
      <p:sp>
        <p:nvSpPr>
          <p:cNvPr id="3" name="Content Placeholder 2">
            <a:extLst>
              <a:ext uri="{FF2B5EF4-FFF2-40B4-BE49-F238E27FC236}">
                <a16:creationId xmlns:a16="http://schemas.microsoft.com/office/drawing/2014/main" id="{D7365577-AFC2-4D53-1449-DD8FF69D5489}"/>
              </a:ext>
            </a:extLst>
          </p:cNvPr>
          <p:cNvSpPr>
            <a:spLocks noGrp="1"/>
          </p:cNvSpPr>
          <p:nvPr>
            <p:ph idx="1"/>
          </p:nvPr>
        </p:nvSpPr>
        <p:spPr>
          <a:xfrm>
            <a:off x="8893574" y="3044535"/>
            <a:ext cx="2765027" cy="1537856"/>
          </a:xfrm>
        </p:spPr>
        <p:txBody>
          <a:bodyPr>
            <a:normAutofit fontScale="77500" lnSpcReduction="20000"/>
          </a:bodyPr>
          <a:lstStyle/>
          <a:p>
            <a:r>
              <a:rPr lang="en-IN" sz="4600" b="1" dirty="0"/>
              <a:t>Machine Learning Life Cycle</a:t>
            </a:r>
            <a:endParaRPr lang="en-IN" sz="4600" dirty="0"/>
          </a:p>
          <a:p>
            <a:pPr marL="0" indent="0">
              <a:buNone/>
            </a:pPr>
            <a:endParaRPr lang="en-IN" sz="1800" dirty="0"/>
          </a:p>
        </p:txBody>
      </p:sp>
      <p:pic>
        <p:nvPicPr>
          <p:cNvPr id="4098" name="Picture 2">
            <a:extLst>
              <a:ext uri="{FF2B5EF4-FFF2-40B4-BE49-F238E27FC236}">
                <a16:creationId xmlns:a16="http://schemas.microsoft.com/office/drawing/2014/main" id="{DA2E9A7F-F190-3C57-E150-3E3DEE0C91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19" r="-2" b="-2"/>
          <a:stretch>
            <a:fillRect/>
          </a:stretch>
        </p:blipFill>
        <p:spPr bwMode="auto">
          <a:xfrm>
            <a:off x="533399" y="365280"/>
            <a:ext cx="8076084" cy="6127439"/>
          </a:xfrm>
          <a:prstGeom prst="roundRect">
            <a:avLst>
              <a:gd name="adj" fmla="val 3517"/>
            </a:avLst>
          </a:prstGeom>
          <a:no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2782F5C-1DB1-29B9-5B88-54DF2E1619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74363" y="196506"/>
            <a:ext cx="2002557" cy="866829"/>
          </a:xfrm>
          <a:prstGeom prst="rect">
            <a:avLst/>
          </a:prstGeom>
        </p:spPr>
      </p:pic>
    </p:spTree>
    <p:extLst>
      <p:ext uri="{BB962C8B-B14F-4D97-AF65-F5344CB8AC3E}">
        <p14:creationId xmlns:p14="http://schemas.microsoft.com/office/powerpoint/2010/main" val="2725947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65F32515-9322-44A5-8C72-4C7BFB461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A617F13B-5021-454F-90E5-3AB2383BF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3BE104EA-8225-2BDA-50A4-98335019DA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588771"/>
            <a:ext cx="10905066" cy="368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094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65F32515-9322-44A5-8C72-4C7BFB461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A617F13B-5021-454F-90E5-3AB2383BF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a:extLst>
              <a:ext uri="{FF2B5EF4-FFF2-40B4-BE49-F238E27FC236}">
                <a16:creationId xmlns:a16="http://schemas.microsoft.com/office/drawing/2014/main" id="{8273426E-F2F2-E7C7-22E5-B306C352085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575139"/>
            <a:ext cx="10905066" cy="3707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160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65F32515-9322-44A5-8C72-4C7BFB461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A617F13B-5021-454F-90E5-3AB2383BF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a:extLst>
              <a:ext uri="{FF2B5EF4-FFF2-40B4-BE49-F238E27FC236}">
                <a16:creationId xmlns:a16="http://schemas.microsoft.com/office/drawing/2014/main" id="{A35BA7F6-5113-E002-4FB2-9FF0C2740B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588771"/>
            <a:ext cx="10905066" cy="368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83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58FF1-5F5F-95E4-F599-884D83644FE3}"/>
              </a:ext>
            </a:extLst>
          </p:cNvPr>
          <p:cNvSpPr>
            <a:spLocks noGrp="1"/>
          </p:cNvSpPr>
          <p:nvPr>
            <p:ph type="title"/>
          </p:nvPr>
        </p:nvSpPr>
        <p:spPr/>
        <p:txBody>
          <a:bodyPr/>
          <a:lstStyle/>
          <a:p>
            <a:r>
              <a:rPr lang="en-US" b="1" dirty="0"/>
              <a:t>Learning Through Interaction and Creation (Advanced)</a:t>
            </a:r>
            <a:endParaRPr lang="en-IN" dirty="0"/>
          </a:p>
        </p:txBody>
      </p:sp>
      <p:sp>
        <p:nvSpPr>
          <p:cNvPr id="4" name="TextBox 3">
            <a:extLst>
              <a:ext uri="{FF2B5EF4-FFF2-40B4-BE49-F238E27FC236}">
                <a16:creationId xmlns:a16="http://schemas.microsoft.com/office/drawing/2014/main" id="{E7FFEB1F-EA5E-62C0-BE51-898AC4149696}"/>
              </a:ext>
            </a:extLst>
          </p:cNvPr>
          <p:cNvSpPr txBox="1"/>
          <p:nvPr/>
        </p:nvSpPr>
        <p:spPr>
          <a:xfrm>
            <a:off x="1776845" y="3002973"/>
            <a:ext cx="3958937" cy="2862322"/>
          </a:xfrm>
          <a:prstGeom prst="rect">
            <a:avLst/>
          </a:prstGeom>
          <a:noFill/>
        </p:spPr>
        <p:txBody>
          <a:bodyPr wrap="square" rtlCol="0">
            <a:spAutoFit/>
          </a:bodyPr>
          <a:lstStyle/>
          <a:p>
            <a:r>
              <a:rPr lang="en-IN" b="1" dirty="0"/>
              <a:t> Reinforcement Learning</a:t>
            </a:r>
          </a:p>
          <a:p>
            <a:endParaRPr lang="en-IN" dirty="0"/>
          </a:p>
          <a:p>
            <a:r>
              <a:rPr lang="en-US" dirty="0"/>
              <a:t>Here, an agent learns to make decisions by interacting with an environment, receiving rewards for desired actions and penalties for undesired ones. It's how AI masters complex games or navigates autonomous systems.</a:t>
            </a:r>
          </a:p>
          <a:p>
            <a:endParaRPr lang="en-IN" dirty="0"/>
          </a:p>
        </p:txBody>
      </p:sp>
      <p:sp>
        <p:nvSpPr>
          <p:cNvPr id="5" name="TextBox 4">
            <a:extLst>
              <a:ext uri="{FF2B5EF4-FFF2-40B4-BE49-F238E27FC236}">
                <a16:creationId xmlns:a16="http://schemas.microsoft.com/office/drawing/2014/main" id="{D57E1D80-8141-EA58-6B1C-A385826EB697}"/>
              </a:ext>
            </a:extLst>
          </p:cNvPr>
          <p:cNvSpPr txBox="1"/>
          <p:nvPr/>
        </p:nvSpPr>
        <p:spPr>
          <a:xfrm>
            <a:off x="6473536" y="2919845"/>
            <a:ext cx="4270664" cy="3139321"/>
          </a:xfrm>
          <a:prstGeom prst="rect">
            <a:avLst/>
          </a:prstGeom>
          <a:noFill/>
        </p:spPr>
        <p:txBody>
          <a:bodyPr wrap="square" rtlCol="0">
            <a:spAutoFit/>
          </a:bodyPr>
          <a:lstStyle/>
          <a:p>
            <a:r>
              <a:rPr lang="en-IN" b="1" dirty="0"/>
              <a:t>Generative AI</a:t>
            </a:r>
          </a:p>
          <a:p>
            <a:endParaRPr lang="en-IN" dirty="0"/>
          </a:p>
          <a:p>
            <a:r>
              <a:rPr lang="en-US" dirty="0"/>
              <a:t>This advanced form of ML focuses on creating new content, from realistic images and text to music and video. It learns the underlying patterns of existing data to generate novel outputs, often indistinguishable from human-created work.</a:t>
            </a:r>
          </a:p>
          <a:p>
            <a:endParaRPr lang="en-IN" dirty="0"/>
          </a:p>
        </p:txBody>
      </p:sp>
      <p:pic>
        <p:nvPicPr>
          <p:cNvPr id="10" name="Picture 9">
            <a:extLst>
              <a:ext uri="{FF2B5EF4-FFF2-40B4-BE49-F238E27FC236}">
                <a16:creationId xmlns:a16="http://schemas.microsoft.com/office/drawing/2014/main" id="{15232307-719D-DF2D-9FD7-4B6D57740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0063" y="307680"/>
            <a:ext cx="2002557" cy="866829"/>
          </a:xfrm>
          <a:prstGeom prst="rect">
            <a:avLst/>
          </a:prstGeom>
        </p:spPr>
      </p:pic>
    </p:spTree>
    <p:extLst>
      <p:ext uri="{BB962C8B-B14F-4D97-AF65-F5344CB8AC3E}">
        <p14:creationId xmlns:p14="http://schemas.microsoft.com/office/powerpoint/2010/main" val="1498760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65F32515-9322-44A5-8C72-4C7BFB461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A617F13B-5021-454F-90E5-3AB2383BF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this is exactly how machine learning works btw : r/programmingmemes">
            <a:extLst>
              <a:ext uri="{FF2B5EF4-FFF2-40B4-BE49-F238E27FC236}">
                <a16:creationId xmlns:a16="http://schemas.microsoft.com/office/drawing/2014/main" id="{B12E153D-4FB0-9D73-CD30-D7CD085A077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90404" y="643467"/>
            <a:ext cx="6011192"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9511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67</TotalTime>
  <Words>299</Words>
  <Application>Microsoft Office PowerPoint</Application>
  <PresentationFormat>Widescreen</PresentationFormat>
  <Paragraphs>26</Paragraphs>
  <Slides>14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Century Gothic</vt:lpstr>
      <vt:lpstr>Mesh</vt:lpstr>
      <vt:lpstr>Machine Learning</vt:lpstr>
      <vt:lpstr>Powering Our Modern World</vt:lpstr>
      <vt:lpstr>What is Machine Learning? </vt:lpstr>
      <vt:lpstr>PowerPoint Presentation</vt:lpstr>
      <vt:lpstr>The Rainfall Prediction Challenge </vt:lpstr>
      <vt:lpstr>Categories of Machine Learning</vt:lpstr>
      <vt:lpstr>PowerPoint Presentation</vt:lpstr>
      <vt:lpstr>PowerPoint Presentation</vt:lpstr>
      <vt:lpstr> </vt:lpstr>
      <vt:lpstr>PowerPoint Presentation</vt:lpstr>
      <vt:lpstr>PowerPoint Presentation</vt:lpstr>
      <vt:lpstr>PowerPoint Presentation</vt:lpstr>
      <vt:lpstr>Learning Through Interaction and Creation (Advanced)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Jayesh M</dc:creator>
  <cp:lastModifiedBy>Jayesh M</cp:lastModifiedBy>
  <cp:revision>2</cp:revision>
  <dcterms:created xsi:type="dcterms:W3CDTF">2026-02-16T12:51:24Z</dcterms:created>
  <dcterms:modified xsi:type="dcterms:W3CDTF">2026-02-16T13:59:14Z</dcterms:modified>
</cp:coreProperties>
</file>